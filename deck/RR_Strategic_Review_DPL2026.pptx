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8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9943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hyperlink" Target="https://github.com/pranav-0217/DPL" TargetMode="External"/><Relationship Id="rId5" Type="http://schemas.openxmlformats.org/officeDocument/2006/relationships/hyperlink" Target="https://drive.google.com/file/d/1jLL0KZS9EmJdwQcU8pXXAaGpCZJvD62B/view?usp=share_link" TargetMode="External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7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943600" cy="5943600"/>
          </a:xfrm>
          <a:prstGeom prst="ellipse">
            <a:avLst/>
          </a:prstGeom>
          <a:solidFill>
            <a:srgbClr val="1D3157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3" name="Shape 1"/>
          <p:cNvSpPr/>
          <p:nvPr/>
        </p:nvSpPr>
        <p:spPr>
          <a:xfrm>
            <a:off x="9692640" y="3749040"/>
            <a:ext cx="3291840" cy="3291840"/>
          </a:xfrm>
          <a:prstGeom prst="ellipse">
            <a:avLst/>
          </a:prstGeom>
          <a:solidFill>
            <a:srgbClr val="C5302A">
              <a:alpha val="12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0" descr="insma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02920"/>
            <a:ext cx="658368" cy="658368"/>
          </a:xfrm>
          <a:prstGeom prst="rect">
            <a:avLst/>
          </a:prstGeom>
        </p:spPr>
      </p:pic>
      <p:pic>
        <p:nvPicPr>
          <p:cNvPr id="5" name="Image 1" descr="dpl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1328" y="502920"/>
            <a:ext cx="658368" cy="6583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580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5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#DPL2026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85800" y="166420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 PREMIER LEAGUE 2026</a:t>
            </a:r>
            <a:endParaRPr lang="en-US" sz="3600" dirty="0"/>
          </a:p>
        </p:txBody>
      </p:sp>
      <p:sp>
        <p:nvSpPr>
          <p:cNvPr id="8" name="Text 4"/>
          <p:cNvSpPr/>
          <p:nvPr/>
        </p:nvSpPr>
        <p:spPr>
          <a:xfrm>
            <a:off x="685800" y="2359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B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the Game. Build the Analytics.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85800" y="2880360"/>
            <a:ext cx="5120640" cy="0"/>
          </a:xfrm>
          <a:prstGeom prst="line">
            <a:avLst/>
          </a:prstGeom>
          <a:noFill/>
          <a:ln w="25400">
            <a:solidFill>
              <a:srgbClr val="C530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6"/>
          <p:cNvSpPr/>
          <p:nvPr/>
        </p:nvSpPr>
        <p:spPr>
          <a:xfrm>
            <a:off x="685800" y="301752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ROUND — QUESTION 1 SUBMISSION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85800" y="35204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/ PARTICIPANT NAME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685800" y="3739896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Pranav Ramanathan Swaminathan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85800" y="4050792"/>
            <a:ext cx="10149840" cy="0"/>
          </a:xfrm>
          <a:prstGeom prst="line">
            <a:avLst/>
          </a:prstGeom>
          <a:noFill/>
          <a:ln w="12700">
            <a:solidFill>
              <a:srgbClr val="3B4A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0"/>
          <p:cNvSpPr/>
          <p:nvPr/>
        </p:nvSpPr>
        <p:spPr>
          <a:xfrm>
            <a:off x="685800" y="412394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ATTEMPTED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685800" y="4343400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— Franchise Report: scouting, performance and strategic review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85800" y="4654296"/>
            <a:ext cx="10149840" cy="0"/>
          </a:xfrm>
          <a:prstGeom prst="line">
            <a:avLst/>
          </a:prstGeom>
          <a:noFill/>
          <a:ln w="12700">
            <a:solidFill>
              <a:srgbClr val="3B4A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3"/>
          <p:cNvSpPr/>
          <p:nvPr/>
        </p:nvSpPr>
        <p:spPr>
          <a:xfrm>
            <a:off x="685800" y="47274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IPL TEAM(S) / SEASONS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685800" y="4946904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Rajasthan Royals  ·  IPL 2023 and 2024  ·  34,967 deliveries, 145 matches, all 10 teams as context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685800" y="5257800"/>
            <a:ext cx="10149840" cy="0"/>
          </a:xfrm>
          <a:prstGeom prst="line">
            <a:avLst/>
          </a:prstGeom>
          <a:noFill/>
          <a:ln w="12700">
            <a:solidFill>
              <a:srgbClr val="3B4A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6"/>
          <p:cNvSpPr/>
          <p:nvPr/>
        </p:nvSpPr>
        <p:spPr>
          <a:xfrm>
            <a:off x="685800" y="5330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DATE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685800" y="5550408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10 / 2026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85800" y="5861304"/>
            <a:ext cx="10149840" cy="0"/>
          </a:xfrm>
          <a:prstGeom prst="line">
            <a:avLst/>
          </a:prstGeom>
          <a:noFill/>
          <a:ln w="12700">
            <a:solidFill>
              <a:srgbClr val="3B4A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19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Premier League  ·  An INSMA Hackathon  ·  info@insma.in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5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74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Context &amp; Analytical Objective</a:t>
            </a:r>
            <a:endParaRPr lang="en-US" sz="2800" dirty="0"/>
          </a:p>
        </p:txBody>
      </p:sp>
      <p:pic>
        <p:nvPicPr>
          <p:cNvPr id="4" name="Image 0" descr="badge_insma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2" y="402336"/>
            <a:ext cx="566928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417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and scope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1719072"/>
            <a:ext cx="5029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b="1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Question 1 — </a:t>
            </a:r>
            <a:r>
              <a:rPr lang="en-US" sz="1250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a scouting, performance and strategic review of one IPL franchise.</a:t>
            </a:r>
            <a:endParaRPr lang="en-US" sz="1250"/>
          </a:p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b="1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Team: </a:t>
            </a:r>
            <a:r>
              <a:rPr lang="en-US" sz="1250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Rajasthan Royals, IPL 2023 and 2024 — both seasons in the dataset.</a:t>
            </a:r>
            <a:endParaRPr lang="en-US" sz="1250"/>
          </a:p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b="1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Lens: </a:t>
            </a:r>
            <a:r>
              <a:rPr lang="en-US" sz="1250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a franchise analyst briefing RR ahead of the 2025 mega-auction, when retention and recruitment are decided.</a:t>
            </a:r>
            <a:endParaRPr lang="en-US" sz="1250"/>
          </a:p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b="1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Objective: </a:t>
            </a:r>
            <a:r>
              <a:rPr lang="en-US" sz="1250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find where RR lose ground to champions, establish whether it is a squad problem or a method problem, and recommend what to keep, change and buy.</a:t>
            </a:r>
            <a:endParaRPr lang="en-US" sz="1250"/>
          </a:p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b="1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Why RR: </a:t>
            </a:r>
            <a:r>
              <a:rPr lang="en-US" sz="1250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the 2nd-best record in 2024 and no final — a strong side with a specific, diagnosable ceiling.</a:t>
            </a:r>
            <a:endParaRPr lang="en-US" sz="1250"/>
          </a:p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b="1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Scope: </a:t>
            </a:r>
            <a:r>
              <a:rPr lang="en-US" sz="1250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34,967 deliveries and the organisers' auction file, all 10 teams as context. Two seasons only.</a:t>
            </a:r>
            <a:endParaRPr lang="en-US" sz="1250"/>
          </a:p>
        </p:txBody>
      </p:sp>
      <p:sp>
        <p:nvSpPr>
          <p:cNvPr id="9" name="Shape 6"/>
          <p:cNvSpPr/>
          <p:nvPr/>
        </p:nvSpPr>
        <p:spPr>
          <a:xfrm>
            <a:off x="5943600" y="1417320"/>
            <a:ext cx="5669280" cy="4526280"/>
          </a:xfrm>
          <a:prstGeom prst="rect">
            <a:avLst/>
          </a:prstGeom>
          <a:solidFill>
            <a:srgbClr val="F7F5F2"/>
          </a:solidFill>
          <a:ln w="12700">
            <a:solidFill>
              <a:srgbClr val="E4E2DD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PREMIER LEAGUE 2026  ·  PRELIMINARY ROUND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9545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pic>
        <p:nvPicPr>
          <p:cNvPr id="13" name="Image 1" descr="badge_dpl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11712" y="6400800"/>
            <a:ext cx="292608" cy="292608"/>
          </a:xfrm>
          <a:prstGeom prst="rect">
            <a:avLst/>
          </a:prstGeom>
        </p:spPr>
      </p:pic>
      <p:pic>
        <p:nvPicPr>
          <p:cNvPr id="14" name="Picture 13" descr="deck_s2_fram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8192" y="1527048"/>
            <a:ext cx="5340096" cy="43068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5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74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 &amp; Methodology</a:t>
            </a:r>
            <a:endParaRPr lang="en-US" sz="2800" dirty="0"/>
          </a:p>
        </p:txBody>
      </p:sp>
      <p:pic>
        <p:nvPicPr>
          <p:cNvPr id="4" name="Image 0" descr="badge_insma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2" y="402336"/>
            <a:ext cx="566928" cy="5669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417320"/>
            <a:ext cx="3639312" cy="45720"/>
          </a:xfrm>
          <a:prstGeom prst="rect">
            <a:avLst/>
          </a:prstGeom>
          <a:solidFill>
            <a:srgbClr val="C530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548640" y="1572768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1965960"/>
            <a:ext cx="3639312" cy="3063240"/>
          </a:xfrm>
          <a:prstGeom prst="rect">
            <a:avLst/>
          </a:prstGeom>
          <a:solidFill>
            <a:srgbClr val="F7F5F2"/>
          </a:solidFill>
          <a:ln w="12700">
            <a:solidFill>
              <a:srgbClr val="E4E2DD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713232" y="2075688"/>
            <a:ext cx="3310128" cy="284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Organisers' dataset: 34,967 deliveries from 145 IPL 2023–24 matches, all 10 teams.</a:t>
            </a:r>
            <a:endParaRPr lang="en-US" sz="1200"/>
          </a:p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Every ball tagged for line, length, delivery type, shot, batter control and wagon wheel.</a:t>
            </a:r>
            <a:endParaRPr lang="en-US" sz="1200"/>
          </a:p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Organisers' auction file: both seasons' squads, with price, nationality and role.</a:t>
            </a:r>
            <a:endParaRPr lang="en-US" sz="1200"/>
          </a:p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The supplied wprob model is used only as a benchmark, never as an input.</a:t>
            </a:r>
            <a:endParaRPr lang="en-US" sz="1200"/>
          </a:p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Squad table: 28 players from the auction file; Keshav Maharaj from RR's announcement. No scraped data.</a:t>
            </a:r>
            <a:endParaRPr lang="en-US" sz="1200"/>
          </a:p>
        </p:txBody>
      </p:sp>
      <p:sp>
        <p:nvSpPr>
          <p:cNvPr id="11" name="Shape 8"/>
          <p:cNvSpPr/>
          <p:nvPr/>
        </p:nvSpPr>
        <p:spPr>
          <a:xfrm>
            <a:off x="4361688" y="1417320"/>
            <a:ext cx="3639312" cy="45720"/>
          </a:xfrm>
          <a:prstGeom prst="rect">
            <a:avLst/>
          </a:prstGeom>
          <a:solidFill>
            <a:srgbClr val="C530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4361688" y="1572768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Prep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361688" y="1965960"/>
            <a:ext cx="3639312" cy="3063240"/>
          </a:xfrm>
          <a:prstGeom prst="rect">
            <a:avLst/>
          </a:prstGeom>
          <a:solidFill>
            <a:srgbClr val="F7F5F2"/>
          </a:solidFill>
          <a:ln w="12700">
            <a:solidFill>
              <a:srgbClr val="E4E2DD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4526280" y="2075688"/>
            <a:ext cx="3310128" cy="284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RCB is spelled two ways: a naive join shows 0 RCB wins in 2023, not 7.</a:t>
            </a:r>
            <a:endParaRPr lang="en-US" sz="1200"/>
          </a:p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110 run outs and other non-bowler dismissals removed from bowling figures.</a:t>
            </a:r>
            <a:endParaRPr lang="en-US" sz="1200"/>
          </a:p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14 no-ball errors corrected; all 289 innings now reconcile.</a:t>
            </a:r>
            <a:endParaRPr lang="en-US" sz="1200"/>
          </a:p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Abandoned and rain-shortened matches handled; every comparison is per ball.</a:t>
            </a:r>
            <a:endParaRPr lang="en-US" sz="1200"/>
          </a:p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Auction prices converted to crore and names matched: 28 of 29 RR players found.</a:t>
            </a:r>
            <a:endParaRPr lang="en-US" sz="1200"/>
          </a:p>
        </p:txBody>
      </p:sp>
      <p:sp>
        <p:nvSpPr>
          <p:cNvPr id="15" name="Shape 12"/>
          <p:cNvSpPr/>
          <p:nvPr/>
        </p:nvSpPr>
        <p:spPr>
          <a:xfrm>
            <a:off x="8174736" y="1417320"/>
            <a:ext cx="3639312" cy="45720"/>
          </a:xfrm>
          <a:prstGeom prst="rect">
            <a:avLst/>
          </a:prstGeom>
          <a:solidFill>
            <a:srgbClr val="C530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8174736" y="1572768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Methods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174736" y="1965960"/>
            <a:ext cx="3639312" cy="3063240"/>
          </a:xfrm>
          <a:prstGeom prst="rect">
            <a:avLst/>
          </a:prstGeom>
          <a:solidFill>
            <a:srgbClr val="F7F5F2"/>
          </a:solidFill>
          <a:ln w="12700">
            <a:solidFill>
              <a:srgbClr val="E4E2DD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8339328" y="2075688"/>
            <a:ext cx="3310128" cy="284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Powerplay 1–6, middle 7–15, death 16–20.</a:t>
            </a:r>
            <a:endParaRPr lang="en-US" sz="1200"/>
          </a:p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Bootstrap by match, 10,000 resamples, for significance tests.</a:t>
            </a:r>
            <a:endParaRPr lang="en-US" sz="1200"/>
          </a:p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Permutation tests for post-hoc splits; shrinkage for player rankings.</a:t>
            </a:r>
            <a:endParaRPr lang="en-US" sz="1200"/>
          </a:p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Win-probability model, cross-validated by match, against the supplied one.</a:t>
            </a:r>
            <a:endParaRPr lang="en-US" sz="1200"/>
          </a:p>
        </p:txBody>
      </p:sp>
      <p:sp>
        <p:nvSpPr>
          <p:cNvPr id="19" name="Text 16"/>
          <p:cNvSpPr/>
          <p:nvPr/>
        </p:nvSpPr>
        <p:spPr>
          <a:xfrm>
            <a:off x="548640" y="516636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Reproducibility: code, data dictionary and cleaning log in the project repository (link on the appendix slide). Scripts run in order; random seed 42 throughout.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4864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PREMIER LEAGUE 2026  ·  PRELIMINARY ROUND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9545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22" name="Image 1" descr="badge_dpl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11712" y="6400800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5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74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Performance Overview</a:t>
            </a:r>
            <a:endParaRPr lang="en-US" sz="2800" dirty="0"/>
          </a:p>
        </p:txBody>
      </p:sp>
      <p:pic>
        <p:nvPicPr>
          <p:cNvPr id="4" name="Image 0" descr="badge_insma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2" y="402336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63040"/>
            <a:ext cx="6675120" cy="4480560"/>
          </a:xfrm>
          <a:prstGeom prst="rect">
            <a:avLst/>
          </a:prstGeom>
          <a:solidFill>
            <a:srgbClr val="F7F5F2"/>
          </a:solidFill>
          <a:ln w="12700">
            <a:solidFill>
              <a:srgbClr val="E4E2DD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1371600"/>
          </a:xfrm>
          <a:prstGeom prst="rect">
            <a:avLst/>
          </a:prstGeom>
          <a:solidFill>
            <a:srgbClr val="F7F5F2"/>
          </a:solidFill>
          <a:ln w="12700">
            <a:solidFill>
              <a:srgbClr val="E4E2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7726680" y="162763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530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0.558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7726680" y="22402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200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Correlation of middle-overs edge with season win % (p = 0.010) — the strongest of any phase</a:t>
            </a:r>
            <a:endParaRPr lang="en-US" sz="1200"/>
          </a:p>
        </p:txBody>
      </p:sp>
      <p:sp>
        <p:nvSpPr>
          <p:cNvPr id="10" name="Shape 7"/>
          <p:cNvSpPr/>
          <p:nvPr/>
        </p:nvSpPr>
        <p:spPr>
          <a:xfrm>
            <a:off x="7498080" y="2971800"/>
            <a:ext cx="4114800" cy="1371600"/>
          </a:xfrm>
          <a:prstGeom prst="rect">
            <a:avLst/>
          </a:prstGeom>
          <a:solidFill>
            <a:srgbClr val="F7F5F2"/>
          </a:solidFill>
          <a:ln w="12700">
            <a:solidFill>
              <a:srgbClr val="E4E2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7726680" y="313639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530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 of 7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726680" y="37490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200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Quality metrics on which RR ranked bottom-half in the 2023 middle overs</a:t>
            </a:r>
            <a:endParaRPr lang="en-US" sz="1200"/>
          </a:p>
        </p:txBody>
      </p:sp>
      <p:sp>
        <p:nvSpPr>
          <p:cNvPr id="13" name="Shape 10"/>
          <p:cNvSpPr/>
          <p:nvPr/>
        </p:nvSpPr>
        <p:spPr>
          <a:xfrm>
            <a:off x="7498080" y="4480560"/>
            <a:ext cx="4114800" cy="1371600"/>
          </a:xfrm>
          <a:prstGeom prst="rect">
            <a:avLst/>
          </a:prstGeom>
          <a:solidFill>
            <a:srgbClr val="F7F5F2"/>
          </a:solidFill>
          <a:ln w="12700">
            <a:solidFill>
              <a:srgbClr val="E4E2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7726680" y="464515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530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18.2%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7726680" y="52578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200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RR's attacking-shot share in the middle overs — last of all ten teams</a:t>
            </a:r>
            <a:endParaRPr lang="en-US" sz="1200"/>
          </a:p>
        </p:txBody>
      </p:sp>
      <p:sp>
        <p:nvSpPr>
          <p:cNvPr id="16" name="Text 13"/>
          <p:cNvSpPr/>
          <p:nvPr/>
        </p:nvSpPr>
        <p:spPr>
          <a:xfrm>
            <a:off x="54864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PREMIER LEAGUE 2026  ·  PRELIMINARY ROUND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9545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18" name="Image 1" descr="badge_dpl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11712" y="6400800"/>
            <a:ext cx="292608" cy="292608"/>
          </a:xfrm>
          <a:prstGeom prst="rect">
            <a:avLst/>
          </a:prstGeom>
        </p:spPr>
      </p:pic>
      <p:pic>
        <p:nvPicPr>
          <p:cNvPr id="19" name="Picture 18" descr="deck_s4_overvie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1572768"/>
            <a:ext cx="6345936" cy="42611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5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74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Detailed Analytical Findings</a:t>
            </a:r>
            <a:endParaRPr lang="en-US" sz="2800" dirty="0"/>
          </a:p>
        </p:txBody>
      </p:sp>
      <p:pic>
        <p:nvPicPr>
          <p:cNvPr id="4" name="Image 0" descr="badge_insma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2" y="402336"/>
            <a:ext cx="566928" cy="5669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508760"/>
            <a:ext cx="365760" cy="365760"/>
          </a:xfrm>
          <a:prstGeom prst="ellipse">
            <a:avLst/>
          </a:prstGeom>
          <a:solidFill>
            <a:srgbClr val="17274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54864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51560" y="1463040"/>
            <a:ext cx="9921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 are built in the middle overs — RR are not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051560" y="1755648"/>
            <a:ext cx="9921240" cy="1051560"/>
          </a:xfrm>
          <a:prstGeom prst="rect">
            <a:avLst/>
          </a:prstGeom>
          <a:solidFill>
            <a:srgbClr val="F7F5F2"/>
          </a:solidFill>
          <a:ln w="12700">
            <a:solidFill>
              <a:srgbClr val="E4E2DD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1216152" y="1865376"/>
            <a:ext cx="95920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8000"/>
              </a:lnSpc>
              <a:spcAft>
                <a:spcPts val="0"/>
              </a:spcAft>
              <a:buNone/>
            </a:pPr>
            <a:r>
              <a:rPr lang="en-US" sz="1250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Across 20 team-seasons, edge in overs 7–15 tracks season win % more closely than any other phase (</a:t>
            </a:r>
            <a:r>
              <a:rPr lang="en-US" sz="1250" b="1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Spearman 0.558, p = 0.010</a:t>
            </a:r>
            <a:r>
              <a:rPr lang="en-US" sz="1250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); the death overs, despite the widest spread, show no significant link. </a:t>
            </a:r>
            <a:r>
              <a:rPr lang="en-US" sz="1250" b="1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Both champions ranked 1st in the middle overs.</a:t>
            </a:r>
            <a:r>
              <a:rPr lang="en-US" sz="1250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 RR's 2023 middle overs were </a:t>
            </a:r>
            <a:r>
              <a:rPr lang="en-US" sz="1250" b="1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bottom-half on all 7 quality metrics</a:t>
            </a:r>
            <a:r>
              <a:rPr lang="en-US" sz="1250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250"/>
          </a:p>
        </p:txBody>
      </p:sp>
      <p:sp>
        <p:nvSpPr>
          <p:cNvPr id="12" name="Shape 9"/>
          <p:cNvSpPr/>
          <p:nvPr/>
        </p:nvSpPr>
        <p:spPr>
          <a:xfrm>
            <a:off x="548640" y="2926080"/>
            <a:ext cx="365760" cy="365760"/>
          </a:xfrm>
          <a:prstGeom prst="ellipse">
            <a:avLst/>
          </a:prstGeom>
          <a:solidFill>
            <a:srgbClr val="17274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54864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51560" y="2880360"/>
            <a:ext cx="9921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point to passivity in the middle overs, not being outbowled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1051560" y="3172968"/>
            <a:ext cx="9921240" cy="1051560"/>
          </a:xfrm>
          <a:prstGeom prst="rect">
            <a:avLst/>
          </a:prstGeom>
          <a:solidFill>
            <a:srgbClr val="F7F5F2"/>
          </a:solidFill>
          <a:ln w="12700">
            <a:solidFill>
              <a:srgbClr val="E4E2DD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1216152" y="3282696"/>
            <a:ext cx="95920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8000"/>
              </a:lnSpc>
              <a:spcAft>
                <a:spcPts val="0"/>
              </a:spcAft>
              <a:buNone/>
            </a:pPr>
            <a:r>
              <a:rPr lang="en-US" sz="1250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In 2024 RR had the league's second-highest middle-overs control (</a:t>
            </a:r>
            <a:r>
              <a:rPr lang="en-US" sz="1250" b="1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80.1%; +3.7 points, p = 0.027</a:t>
            </a:r>
            <a:r>
              <a:rPr lang="en-US" sz="1250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) but the second-lowest return from it (</a:t>
            </a:r>
            <a:r>
              <a:rPr lang="en-US" sz="1250" b="1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1.53 runs per controlled ball, p = 0.042</a:t>
            </a:r>
            <a:r>
              <a:rPr lang="en-US" sz="1250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); champions KKR were the reverse (71.4%, 1.87). RR play attacking shots (sweeps, pulls, hooks, slogs, ramps, upper cuts, reverses) on </a:t>
            </a:r>
            <a:r>
              <a:rPr lang="en-US" sz="1250" b="1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18.2% of middle-overs balls, last of ten</a:t>
            </a:r>
            <a:r>
              <a:rPr lang="en-US" sz="1250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, yet score </a:t>
            </a:r>
            <a:r>
              <a:rPr lang="en-US" sz="1250" b="1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2.29 runs per ball when they do, the league's best</a:t>
            </a:r>
            <a:r>
              <a:rPr lang="en-US" sz="1250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250"/>
          </a:p>
        </p:txBody>
      </p:sp>
      <p:sp>
        <p:nvSpPr>
          <p:cNvPr id="17" name="Shape 14"/>
          <p:cNvSpPr/>
          <p:nvPr/>
        </p:nvSpPr>
        <p:spPr>
          <a:xfrm>
            <a:off x="548640" y="4343400"/>
            <a:ext cx="365760" cy="365760"/>
          </a:xfrm>
          <a:prstGeom prst="ellipse">
            <a:avLst/>
          </a:prstGeom>
          <a:solidFill>
            <a:srgbClr val="17274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548640" y="4343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051560" y="4297680"/>
            <a:ext cx="9921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mechanism is full deliveries — and shot choice could close the gap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1051560" y="4590288"/>
            <a:ext cx="9921240" cy="1051560"/>
          </a:xfrm>
          <a:prstGeom prst="rect">
            <a:avLst/>
          </a:prstGeom>
          <a:solidFill>
            <a:srgbClr val="F7F5F2"/>
          </a:solidFill>
          <a:ln w="12700">
            <a:solidFill>
              <a:srgbClr val="E4E2DD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1216152" y="4700016"/>
            <a:ext cx="95920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8000"/>
              </a:lnSpc>
              <a:spcAft>
                <a:spcPts val="0"/>
              </a:spcAft>
              <a:buNone/>
            </a:pPr>
            <a:r>
              <a:rPr lang="en-US" sz="1250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Off full balls RR score </a:t>
            </a:r>
            <a:r>
              <a:rPr lang="en-US" sz="1250" b="1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24–28 strike-rate points below the league</a:t>
            </a:r>
            <a:r>
              <a:rPr lang="en-US" sz="1250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, yet beat it off back-of-a-length balls at the stumps. At the league's attacking share, RR's own returns would lift middle-overs strike rate </a:t>
            </a:r>
            <a:r>
              <a:rPr lang="en-US" sz="1250" b="1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from 132.5 to 137.5 (league 137.7)</a:t>
            </a:r>
            <a:r>
              <a:rPr lang="en-US" sz="1250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: an illustrative, likely optimistic scenario.</a:t>
            </a:r>
            <a:endParaRPr lang="en-US" sz="1250"/>
          </a:p>
        </p:txBody>
      </p:sp>
      <p:sp>
        <p:nvSpPr>
          <p:cNvPr id="22" name="Text 19"/>
          <p:cNvSpPr/>
          <p:nvPr/>
        </p:nvSpPr>
        <p:spPr>
          <a:xfrm>
            <a:off x="54864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PREMIER LEAGUE 2026  ·  PRELIMINARY ROUND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9545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24" name="Image 1" descr="badge_dpl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11712" y="6400800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5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74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Strengths &amp; Weaknesses of Chosen Methodology</a:t>
            </a:r>
            <a:endParaRPr lang="en-US" sz="2800" dirty="0"/>
          </a:p>
        </p:txBody>
      </p:sp>
      <p:pic>
        <p:nvPicPr>
          <p:cNvPr id="4" name="Image 0" descr="badge_insma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2" y="402336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63040"/>
            <a:ext cx="5349240" cy="457200"/>
          </a:xfrm>
          <a:prstGeom prst="rect">
            <a:avLst/>
          </a:prstGeom>
          <a:solidFill>
            <a:srgbClr val="17274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548640" y="146304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011680"/>
            <a:ext cx="5349240" cy="3931920"/>
          </a:xfrm>
          <a:prstGeom prst="rect">
            <a:avLst/>
          </a:prstGeom>
          <a:solidFill>
            <a:srgbClr val="F7F5F2"/>
          </a:solidFill>
          <a:ln w="12700">
            <a:solidFill>
              <a:srgbClr val="E4E2DD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713232" y="2121408"/>
            <a:ext cx="5020056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b="1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Tested, not asserted. </a:t>
            </a:r>
            <a:r>
              <a:rPr lang="en-US" sz="1300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Significance tests resample whole matches, 10,000 times.</a:t>
            </a:r>
            <a:endParaRPr lang="en-US" sz="1300"/>
          </a:p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b="1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A circular trap, avoided. </a:t>
            </a:r>
            <a:r>
              <a:rPr lang="en-US" sz="1300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Predicting results from runs scored and conceded only rebuilds the scoreboard; our model forecasts from the state at each ball.</a:t>
            </a:r>
            <a:endParaRPr lang="en-US" sz="1300"/>
          </a:p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b="1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No leakage. </a:t>
            </a:r>
            <a:r>
              <a:rPr lang="en-US" sz="1300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Cross-validation is grouped by match, so no match is in both training and test.</a:t>
            </a:r>
            <a:endParaRPr lang="en-US" sz="1300"/>
          </a:p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b="1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A real baseline. </a:t>
            </a:r>
            <a:r>
              <a:rPr lang="en-US" sz="1300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Lower observed log-loss than the dataset's own model (0.551 vs 0.572), though not significant; gradient boosting overfit and was dropped.</a:t>
            </a:r>
            <a:endParaRPr lang="en-US" sz="1300"/>
          </a:p>
        </p:txBody>
      </p:sp>
      <p:sp>
        <p:nvSpPr>
          <p:cNvPr id="9" name="Shape 6"/>
          <p:cNvSpPr/>
          <p:nvPr/>
        </p:nvSpPr>
        <p:spPr>
          <a:xfrm>
            <a:off x="6263640" y="1463040"/>
            <a:ext cx="5349240" cy="457200"/>
          </a:xfrm>
          <a:prstGeom prst="rect">
            <a:avLst/>
          </a:prstGeom>
          <a:solidFill>
            <a:srgbClr val="C530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6263640" y="146304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63640" y="2011680"/>
            <a:ext cx="5349240" cy="3931920"/>
          </a:xfrm>
          <a:prstGeom prst="rect">
            <a:avLst/>
          </a:prstGeom>
          <a:solidFill>
            <a:srgbClr val="F7F5F2"/>
          </a:solidFill>
          <a:ln w="12700">
            <a:solidFill>
              <a:srgbClr val="E4E2DD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6428232" y="2121408"/>
            <a:ext cx="5020056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b="1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Small samples. </a:t>
            </a:r>
            <a:r>
              <a:rPr lang="en-US" sz="1300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14–15 matches a season, fewer per venue or opponent: no single-season RR gap is significant, so the argument rests on patterns.</a:t>
            </a:r>
            <a:endParaRPr lang="en-US" sz="1300"/>
          </a:p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b="1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Two claims rejected. </a:t>
            </a:r>
            <a:r>
              <a:rPr lang="en-US" sz="1300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‘RR struggle against spin’ (p = 0.569) and a late-2024 ‘collapse’ (p = 0.118 once corrected).</a:t>
            </a:r>
            <a:endParaRPr lang="en-US" sz="1300"/>
          </a:p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b="1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Control looks like style. </a:t>
            </a:r>
            <a:r>
              <a:rPr lang="en-US" sz="1300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Higher control goes with slower scoring, so it stays out of quality rankings.</a:t>
            </a:r>
            <a:endParaRPr lang="en-US" sz="1300"/>
          </a:p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b="1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A scenario, not a forecast. </a:t>
            </a:r>
            <a:r>
              <a:rPr lang="en-US" sz="1300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The shot-mix estimate assumes RR's attacking return holds.</a:t>
            </a:r>
            <a:endParaRPr lang="en-US" sz="1300"/>
          </a:p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b="1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Missing data. </a:t>
            </a:r>
            <a:r>
              <a:rPr lang="en-US" sz="1300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No fielding or injury records; prices are 2023–24 contracts, not 2025 auction values.</a:t>
            </a:r>
            <a:endParaRPr lang="en-US" sz="130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PREMIER LEAGUE 2026  ·  PRELIMINARY ROUND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9545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15" name="Image 1" descr="badge_dpl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11712" y="6400800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5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74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Interpretation &amp; Practical Significance</a:t>
            </a:r>
            <a:endParaRPr lang="en-US" sz="2800" dirty="0"/>
          </a:p>
        </p:txBody>
      </p:sp>
      <p:pic>
        <p:nvPicPr>
          <p:cNvPr id="4" name="Image 0" descr="badge_insma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2" y="402336"/>
            <a:ext cx="566928" cy="5669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463040"/>
            <a:ext cx="5486400" cy="45720"/>
          </a:xfrm>
          <a:prstGeom prst="rect">
            <a:avLst/>
          </a:prstGeom>
          <a:solidFill>
            <a:srgbClr val="C530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548640" y="1600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 interpretation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1965960"/>
            <a:ext cx="5486400" cy="3977640"/>
          </a:xfrm>
          <a:prstGeom prst="rect">
            <a:avLst/>
          </a:prstGeom>
          <a:solidFill>
            <a:srgbClr val="F7F5F2"/>
          </a:solidFill>
          <a:ln w="12700">
            <a:solidFill>
              <a:srgbClr val="E4E2DD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713232" y="2075688"/>
            <a:ext cx="5157216" cy="3758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Phases. </a:t>
            </a:r>
            <a:r>
              <a:rPr lang="en-US" sz="1300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Champions win overs 7–15 with bat and ball; RR's 2023 middle overs were bottom-half on all 7 metrics.</a:t>
            </a:r>
            <a:endParaRPr lang="en-US" sz="130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Tactics. </a:t>
            </a:r>
            <a:r>
              <a:rPr lang="en-US" sz="1300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The pattern points to passivity, not being beaten: second for control in 2024, second-lowest for runs per controlled ball. RR stall against full balls.</a:t>
            </a:r>
            <a:endParaRPr lang="en-US" sz="130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Roles. </a:t>
            </a:r>
            <a:r>
              <a:rPr lang="en-US" sz="1300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No RR batter with 50+ balls strikes above 150 in overs 7–15; Hetmyer, Samson and Parag attack less than the league median.</a:t>
            </a:r>
            <a:endParaRPr lang="en-US" sz="130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Venue and opposition. </a:t>
            </a:r>
            <a:r>
              <a:rPr lang="en-US" sz="1300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Even at home in Jaipur RR trail visiting sides; Chennai and Punjab held them below 120.</a:t>
            </a:r>
            <a:endParaRPr lang="en-US" sz="1300"/>
          </a:p>
        </p:txBody>
      </p:sp>
      <p:sp>
        <p:nvSpPr>
          <p:cNvPr id="11" name="Shape 8"/>
          <p:cNvSpPr/>
          <p:nvPr/>
        </p:nvSpPr>
        <p:spPr>
          <a:xfrm>
            <a:off x="6309360" y="1463040"/>
            <a:ext cx="5303520" cy="45720"/>
          </a:xfrm>
          <a:prstGeom prst="rect">
            <a:avLst/>
          </a:prstGeom>
          <a:solidFill>
            <a:srgbClr val="C530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6309360" y="16002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relevance to the franchise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309360" y="1965960"/>
            <a:ext cx="5303520" cy="3977640"/>
          </a:xfrm>
          <a:prstGeom prst="rect">
            <a:avLst/>
          </a:prstGeom>
          <a:solidFill>
            <a:srgbClr val="F7F5F2"/>
          </a:solidFill>
          <a:ln w="12700">
            <a:solidFill>
              <a:srgbClr val="E4E2DD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6473952" y="2075688"/>
            <a:ext cx="4974336" cy="3758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The first lever is free. </a:t>
            </a:r>
            <a:r>
              <a:rPr lang="en-US" sz="1300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RR attack least but score best when they do; the league's shot mix would lift them to about the league average.</a:t>
            </a:r>
            <a:endParaRPr lang="en-US" sz="130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Overseas slots. </a:t>
            </a:r>
            <a:r>
              <a:rPr lang="en-US" sz="1300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12 overseas players for 4 slots, five with under 60 deliveries. The churn was cheap: settle them for role clarity.</a:t>
            </a:r>
            <a:endParaRPr lang="en-US" sz="130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Role balance and recruitment. </a:t>
            </a:r>
            <a:r>
              <a:rPr lang="en-US" sz="1300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The 2024 bowling was top-three for economy in every phase; spend on one middle-overs batter who scores off full balls. 13 of the 20 who fit are Indian, so no overseas slot is needed.</a:t>
            </a:r>
            <a:endParaRPr lang="en-US" sz="130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Availability. </a:t>
            </a:r>
            <a:r>
              <a:rPr lang="en-US" sz="1300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Prasidh Krishna, retained at ₹10 Cr, bowled no balls in either season; in 2024, players with no balls faced or bowled held ₹14.5 Cr of contracts.</a:t>
            </a:r>
            <a:endParaRPr lang="en-US" sz="130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Risk and ambition. </a:t>
            </a:r>
            <a:r>
              <a:rPr lang="en-US" sz="1300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A blunt ‘attack more’ order risks the wickets RR learned to protect. Without a middle-overs engine, Qualifier 2 is the ceiling.</a:t>
            </a:r>
            <a:endParaRPr lang="en-US" sz="1300"/>
          </a:p>
        </p:txBody>
      </p:sp>
      <p:sp>
        <p:nvSpPr>
          <p:cNvPr id="15" name="Text 12"/>
          <p:cNvSpPr/>
          <p:nvPr/>
        </p:nvSpPr>
        <p:spPr>
          <a:xfrm>
            <a:off x="54864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PREMIER LEAGUE 2026  ·  PRELIMINARY ROUND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9545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17" name="Image 1" descr="badge_dpl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11712" y="6400800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27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2011680"/>
            <a:ext cx="5029200" cy="5029200"/>
          </a:xfrm>
          <a:prstGeom prst="ellipse">
            <a:avLst/>
          </a:prstGeom>
          <a:solidFill>
            <a:srgbClr val="1D315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5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Conclusion &amp; 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0149840" cy="1051560"/>
          </a:xfrm>
          <a:prstGeom prst="roundRect">
            <a:avLst>
              <a:gd name="adj" fmla="val 5217"/>
            </a:avLst>
          </a:prstGeom>
          <a:solidFill>
            <a:srgbClr val="1D2E52"/>
          </a:solidFill>
          <a:ln w="12700">
            <a:solidFill>
              <a:srgbClr val="3544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22960" y="180136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5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 are built in overs 7–15 — and RR's batting there has been below average for two seasons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093976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8000"/>
              </a:lnSpc>
              <a:spcAft>
                <a:spcPts val="0"/>
              </a:spcAft>
              <a:buNone/>
            </a:pPr>
            <a:r>
              <a:rPr lang="en-US" sz="1250" b="1" i="0" dirty="0">
                <a:solidFill>
                  <a:srgbClr val="CBD3E8"/>
                </a:solidFill>
                <a:latin typeface="Calibri"/>
                <a:ea typeface="Calibri"/>
                <a:cs typeface="Calibri"/>
              </a:rPr>
              <a:t>Action: </a:t>
            </a:r>
            <a:r>
              <a:rPr lang="en-US" sz="1250" i="0" dirty="0">
                <a:solidFill>
                  <a:srgbClr val="CBD3E8"/>
                </a:solidFill>
                <a:latin typeface="Calibri"/>
                <a:ea typeface="Calibri"/>
                <a:cs typeface="Calibri"/>
              </a:rPr>
              <a:t>make middle-overs run rate the squad's primary planning metric — in selection, match plans and player reviews.</a:t>
            </a:r>
            <a:endParaRPr lang="en-US" sz="125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10149840" cy="1051560"/>
          </a:xfrm>
          <a:prstGeom prst="roundRect">
            <a:avLst>
              <a:gd name="adj" fmla="val 5217"/>
            </a:avLst>
          </a:prstGeom>
          <a:solidFill>
            <a:srgbClr val="1D2E52"/>
          </a:solidFill>
          <a:ln w="12700">
            <a:solidFill>
              <a:srgbClr val="3544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822960" y="303580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5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 look passive, not outbowled — the league's best attacking return, its lowest attacking share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328416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8000"/>
              </a:lnSpc>
              <a:spcAft>
                <a:spcPts val="0"/>
              </a:spcAft>
              <a:buNone/>
            </a:pPr>
            <a:r>
              <a:rPr lang="en-US" sz="1250" b="1" i="0" dirty="0">
                <a:solidFill>
                  <a:srgbClr val="CBD3E8"/>
                </a:solidFill>
                <a:latin typeface="Calibri"/>
                <a:ea typeface="Calibri"/>
                <a:cs typeface="Calibri"/>
              </a:rPr>
              <a:t>Action: </a:t>
            </a:r>
            <a:r>
              <a:rPr lang="en-US" sz="1250" i="0" dirty="0">
                <a:solidFill>
                  <a:srgbClr val="CBD3E8"/>
                </a:solidFill>
                <a:latin typeface="Calibri"/>
                <a:ea typeface="Calibri"/>
                <a:cs typeface="Calibri"/>
              </a:rPr>
              <a:t>set and test a minimum attacking-shot share for overs 7–15; on RR's own returns it could close the gap.</a:t>
            </a:r>
            <a:endParaRPr lang="en-US" sz="125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10149840" cy="1051560"/>
          </a:xfrm>
          <a:prstGeom prst="roundRect">
            <a:avLst>
              <a:gd name="adj" fmla="val 5217"/>
            </a:avLst>
          </a:prstGeom>
          <a:solidFill>
            <a:srgbClr val="1D2E52"/>
          </a:solidFill>
          <a:ln w="12700">
            <a:solidFill>
              <a:srgbClr val="3544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822960" y="42702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5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2024 bowling was top-three for economy in every phase; the middle-order batting and overseas slots were not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4562856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8000"/>
              </a:lnSpc>
              <a:spcAft>
                <a:spcPts val="0"/>
              </a:spcAft>
              <a:buNone/>
            </a:pPr>
            <a:r>
              <a:rPr lang="en-US" sz="1250" b="1" i="0" dirty="0">
                <a:solidFill>
                  <a:srgbClr val="CBD3E8"/>
                </a:solidFill>
                <a:latin typeface="Calibri"/>
                <a:ea typeface="Calibri"/>
                <a:cs typeface="Calibri"/>
              </a:rPr>
              <a:t>Action: </a:t>
            </a:r>
            <a:r>
              <a:rPr lang="en-US" sz="1250" i="0" dirty="0">
                <a:solidFill>
                  <a:srgbClr val="CBD3E8"/>
                </a:solidFill>
                <a:latin typeface="Calibri"/>
                <a:ea typeface="Calibri"/>
                <a:cs typeface="Calibri"/>
              </a:rPr>
              <a:t>buy one middle-overs accelerator who scores off full balls (13 of the 20 who fit are Indian),</a:t>
            </a:r>
            <a:endParaRPr lang="en-US" sz="1250"/>
          </a:p>
          <a:p>
            <a:pPr>
              <a:lnSpc>
                <a:spcPct val="108000"/>
              </a:lnSpc>
              <a:spcAft>
                <a:spcPts val="0"/>
              </a:spcAft>
              <a:buNone/>
            </a:pPr>
            <a:r>
              <a:rPr lang="en-US" sz="1250" i="0" dirty="0">
                <a:solidFill>
                  <a:srgbClr val="CBD3E8"/>
                </a:solidFill>
                <a:latin typeface="Calibri"/>
                <a:ea typeface="Calibri"/>
                <a:cs typeface="Calibri"/>
              </a:rPr>
              <a:t>and consolidate twelve overseas players into four slots.</a:t>
            </a:r>
            <a:endParaRPr lang="en-US" sz="125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PREMIER LEAGUE 2026  ·  PRELIMINARY ROUND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5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NOT COUNTED IN SLIDE LIMIT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74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References &amp; Code Repository</a:t>
            </a:r>
            <a:endParaRPr lang="en-US" sz="2800" dirty="0"/>
          </a:p>
        </p:txBody>
      </p:sp>
      <p:pic>
        <p:nvPicPr>
          <p:cNvPr id="4" name="Image 0" descr="badge_insma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2" y="40233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0881360" cy="1828800"/>
          </a:xfrm>
          <a:prstGeom prst="rect">
            <a:avLst/>
          </a:prstGeom>
          <a:solidFill>
            <a:srgbClr val="F7F5F2"/>
          </a:solidFill>
          <a:ln w="12700">
            <a:solidFill>
              <a:srgbClr val="E4E2DD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713232" y="1892808"/>
            <a:ext cx="10552176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b="1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Dataset. </a:t>
            </a:r>
            <a:r>
              <a:rPr lang="en-US" sz="1100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Data Premier League 2026, Preliminary Round (organisers): IPL 2023–24 ball-by-ball, 34,967 deliveries, 61 columns.</a:t>
            </a:r>
            <a:endParaRPr lang="en-US" sz="1100" dirty="0"/>
          </a:p>
          <a:p>
            <a:pPr marL="228600" indent="-2286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b="1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Auction file. </a:t>
            </a:r>
            <a:r>
              <a:rPr lang="en-US" sz="1100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Data Premier League 2026 (organisers): IPL 2023 and 2024 squads with price, nationality and role.</a:t>
            </a:r>
            <a:endParaRPr lang="en-US" sz="1100" dirty="0"/>
          </a:p>
          <a:p>
            <a:pPr marL="228600" indent="-2286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b="1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Squad reference. </a:t>
            </a:r>
            <a:r>
              <a:rPr lang="en-US" sz="1100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data/reference/rr_squad_reference.csv — nationality and keeper roles from the auction file (28 players).</a:t>
            </a:r>
            <a:endParaRPr lang="en-US" sz="1100" dirty="0"/>
          </a:p>
          <a:p>
            <a:pPr marL="228600" indent="-2286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b="1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Documentation. </a:t>
            </a:r>
            <a:r>
              <a:rPr lang="en-US" sz="1100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docs/DATA_DICTIONARY.md and docs/CLEANING_LOG.md, written for this submission — no data dictionary was supplied with the dataset.</a:t>
            </a:r>
            <a:endParaRPr lang="en-US" sz="1100" dirty="0"/>
          </a:p>
          <a:p>
            <a:pPr marL="228600" indent="-2286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b="1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Figures. </a:t>
            </a:r>
            <a:r>
              <a:rPr lang="en-US" sz="1100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Every analysis chart, including those not shown on these slides, is in reports/figures/.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3794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Reproducibility &amp; Video Explanation Links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4114800"/>
            <a:ext cx="10881360" cy="1280160"/>
          </a:xfrm>
          <a:prstGeom prst="rect">
            <a:avLst/>
          </a:prstGeom>
          <a:solidFill>
            <a:srgbClr val="F7F5F2"/>
          </a:solidFill>
          <a:ln w="12700">
            <a:solidFill>
              <a:srgbClr val="E4E2DD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713232" y="4224528"/>
            <a:ext cx="1055217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b="1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Repository: </a:t>
            </a:r>
            <a:r>
              <a:rPr lang="en-US" sz="1100" dirty="0">
                <a:solidFill>
                  <a:srgbClr val="1F2430"/>
                </a:solidFill>
                <a:ea typeface="Calibri"/>
                <a:cs typeface="Calibri"/>
                <a:hlinkClick r:id="rId4"/>
              </a:rPr>
              <a:t>https://github.com/pranav-0217/DPL</a:t>
            </a:r>
            <a:r>
              <a:rPr lang="en-US" sz="1100" dirty="0">
                <a:solidFill>
                  <a:srgbClr val="1F2430"/>
                </a:solidFill>
                <a:ea typeface="Calibri"/>
                <a:cs typeface="Calibri"/>
              </a:rPr>
              <a:t>    Video</a:t>
            </a:r>
            <a:r>
              <a:rPr lang="en-US" sz="1100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sz="1100" dirty="0">
                <a:solidFill>
                  <a:srgbClr val="1F2430"/>
                </a:solidFill>
                <a:ea typeface="Calibri"/>
                <a:cs typeface="Calibri"/>
                <a:hlinkClick r:id="rId5"/>
              </a:rPr>
              <a:t>https://drive.google.com/file/d/1jLL0KZS9EmJdwQcU8pXXAaGpCZJvD62B/view?usp=share_link</a:t>
            </a:r>
            <a:endParaRPr lang="en-US" sz="1100" dirty="0">
              <a:solidFill>
                <a:srgbClr val="1F2430"/>
              </a:solidFill>
              <a:ea typeface="Calibri"/>
              <a:cs typeface="Calibri"/>
            </a:endParaRPr>
          </a:p>
          <a:p>
            <a:pPr marL="228600" indent="-2286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b="1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Reproduce: </a:t>
            </a:r>
            <a:r>
              <a:rPr lang="en-US" sz="1100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put the organisers' dataset and auction file in the repository root, pip install -r requirements.txt, then run src/01 to src/10. Seed 42.</a:t>
            </a:r>
            <a:endParaRPr lang="en-US" sz="1100" dirty="0"/>
          </a:p>
          <a:p>
            <a:pPr marL="228600" indent="-2286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b="1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Environment: </a:t>
            </a:r>
            <a:r>
              <a:rPr lang="en-US" sz="1100" i="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Python 3.12 · pandas 3.0.5 · numpy 2.4.6 · scikit-learn 1.9.0 · scipy 1.18.0 · matplotlib 3.11.1 · pyarrow 24.0.0 · openpyxl 3.1.5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PREMIER LEAGUE 2026  ·  PRELIMINARY ROUND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9545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13" name="Image 1" descr="badge_dpl_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11712" y="6400800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1702</Words>
  <Application>Microsoft Macintosh PowerPoint</Application>
  <PresentationFormat>Widescreen</PresentationFormat>
  <Paragraphs>133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Rajasthan Royals Strategic Review</dc:title>
  <dc:subject>Data Premier League 2026, Preliminary Round, Question 1</dc:subject>
  <dc:creator>Pranav</dc:creator>
  <cp:lastModifiedBy>Pranav Ramanathan Swaminathan</cp:lastModifiedBy>
  <cp:revision>4</cp:revision>
  <dcterms:created xsi:type="dcterms:W3CDTF">2026-09-22T06:42:10Z</dcterms:created>
  <dcterms:modified xsi:type="dcterms:W3CDTF">2026-10-16T02:37:56Z</dcterms:modified>
</cp:coreProperties>
</file>